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88952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ADB5AF-C32D-B88F-07EB-7E7969CAE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682BBD-1BF8-E6D5-DC4E-088A9B660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A4646E-FA17-E7AD-374B-6778C9A791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B153E9-C418-BE0A-9E46-E5E8062A5F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57C6C-6DF1-917A-8292-DC4671A9FC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DB061A-EFD8-575A-903C-072371347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760759-C085-D83B-B5C8-A85AB97DB1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8D8DFA-93AE-D100-E18C-579BF86877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E5B395-0844-04BE-73FD-BAC4A8E948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AA3C6A-178C-9BE0-D0F0-26AD18CC91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5A887E-3708-8601-C07E-2BE0FC4261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3833B2-7A07-EBE6-AF81-59299BA188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3597C4-FDA4-6724-B876-36F10B7058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BF68A6-769C-DADC-07DE-BA4A925DCD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601966-668C-EE21-090C-B08B6CF021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8DA69F-9C27-E6C8-DE12-A0E260D59E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6C4D50-4A62-8F6D-A11A-8A3297B316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022E90-3486-2421-4856-BD2A46AD9D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68432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633423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345009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014178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2425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1906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47499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5209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13085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00593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8750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5815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906872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646653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11229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302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865174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380188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73714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339314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71482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8426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49930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024179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81993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796414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492205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9323820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635304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886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77179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1890894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2851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18897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9063461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046155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1956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14508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13264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51339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566738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5678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71984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319110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638599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517075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638400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62328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6786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57109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92879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709253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04090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80035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272096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63502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046738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98218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71328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30797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621882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589289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526635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787149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/>
              <a:t>MEMORIZE EVOLUTIVO — Base de Datos</a:t>
            </a:r>
            <a:endParaRPr/>
          </a:p>
        </p:txBody>
      </p:sp>
      <p:sp>
        <p:nvSpPr>
          <p:cNvPr id="1431607090" name="TextBox 2"/>
          <p:cNvSpPr txBox="1"/>
          <p:nvPr/>
        </p:nvSpPr>
        <p:spPr bwMode="auto"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3E0"/>
                </a:solidFill>
              </a:defRPr>
            </a:pPr>
            <a:r>
              <a:rPr/>
              <a:t>PostgreSQL 18 · BD memorize · pgAdmin + Prisma</a:t>
            </a:r>
            <a:endParaRPr/>
          </a:p>
          <a:p>
            <a:pPr algn="ctr">
              <a:defRPr sz="2000">
                <a:solidFill>
                  <a:srgbClr val="C8D3E0"/>
                </a:solidFill>
              </a:defRPr>
            </a:pPr>
            <a:r>
              <a:rPr/>
              <a:t>SENA · Ficha 3172526 · Kevin Mora / Jose David Sandoval</a:t>
            </a:r>
            <a:endParaRPr/>
          </a:p>
          <a:p>
            <a:pPr algn="ctr">
              <a:defRPr sz="2000">
                <a:solidFill>
                  <a:srgbClr val="C8D3E0"/>
                </a:solidFill>
              </a:defRPr>
            </a:pPr>
            <a:r>
              <a:rPr/>
              <a:t>25 tablas · 4 triggers · 2 SP · 4 vistas · Plan de mejora ejecutado</a:t>
            </a:r>
            <a:endParaRPr/>
          </a:p>
        </p:txBody>
      </p:sp>
      <p:pic>
        <p:nvPicPr>
          <p:cNvPr id="1131006573" name="Picture 3" descr="img_er25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77440" y="4297680"/>
            <a:ext cx="7406640" cy="4147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389908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/>
              <a:t>Antes vs después</a:t>
            </a:r>
            <a:endParaRPr/>
          </a:p>
        </p:txBody>
      </p:sp>
      <p:sp>
        <p:nvSpPr>
          <p:cNvPr id="2084950245" name="TextBox 2"/>
          <p:cNvSpPr txBox="1"/>
          <p:nvPr/>
        </p:nvSpPr>
        <p:spPr bwMode="auto">
          <a:xfrm>
            <a:off x="640080" y="11887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/>
              <a:t>ANTES: 7 tablas, totalScore INTEGER (riesgo overflow), sin índices compuestos, 2 triggers / 2 SP / 4 vistas.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DESPUÉS: 25 tablas, totalScore BIGINT, 96 índices, 26 FKs.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4 triggers, 2 SP, 4 vistas — todo probado con ROLLBACK limpio.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Backups: antes (23 KB) y después (83 KB) en carpeta backups/.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138402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/>
              <a:t>Plan ejecutado por fases</a:t>
            </a:r>
            <a:endParaRPr/>
          </a:p>
        </p:txBody>
      </p:sp>
      <p:sp>
        <p:nvSpPr>
          <p:cNvPr id="103142869" name="TextBox 2"/>
          <p:cNvSpPr txBox="1"/>
          <p:nvPr/>
        </p:nvSpPr>
        <p:spPr bwMode="auto">
          <a:xfrm>
            <a:off x="548640" y="11430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Fase 1 (P0): BIGINT + 3 índices.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Fase 2 (P1): 6 tablas + 8 logros.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Fase 3 (P2): settings + events + soft deletes.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Fase 4+5 (P3): 10 tablas + migración.</a:t>
            </a:r>
            <a:endParaRPr/>
          </a:p>
        </p:txBody>
      </p:sp>
      <p:pic>
        <p:nvPicPr>
          <p:cNvPr id="784349050" name="Picture 3" descr="img_fase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0" y="1143000"/>
            <a:ext cx="5669280" cy="24094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829700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/>
              <a:t>Mapa de módulos — 25 tablas</a:t>
            </a:r>
            <a:endParaRPr/>
          </a:p>
        </p:txBody>
      </p:sp>
      <p:sp>
        <p:nvSpPr>
          <p:cNvPr id="1896242560" name="TextBox 2"/>
          <p:cNvSpPr txBox="1"/>
          <p:nvPr/>
        </p:nvSpPr>
        <p:spPr bwMode="auto">
          <a:xfrm>
            <a:off x="548640" y="11430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rPr/>
              <a:t>Núcleo 7 · Progresión 8 · Social+Multi 5 · Economía 5.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26 FKs con CASCADE/SET NULL.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Nota: chat_messages no venía en el script (25, no 26).</a:t>
            </a:r>
            <a:endParaRPr/>
          </a:p>
        </p:txBody>
      </p:sp>
      <p:pic>
        <p:nvPicPr>
          <p:cNvPr id="54013136" name="Picture 3" descr="img_er25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0" y="1143000"/>
            <a:ext cx="5669280" cy="31747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901363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/>
              <a:t>Datos reales migrados</a:t>
            </a:r>
            <a:endParaRPr/>
          </a:p>
        </p:txBody>
      </p:sp>
      <p:sp>
        <p:nvSpPr>
          <p:cNvPr id="1684616724" name="TextBox 2"/>
          <p:cNvSpPr txBox="1"/>
          <p:nvPr/>
        </p:nvSpPr>
        <p:spPr bwMode="auto">
          <a:xfrm>
            <a:off x="548640" y="11430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unlocked_items 5, settings 3, currency 3.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achievements 8 predefinidos.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14 tablas nuevas vacías = módulos listos.</a:t>
            </a:r>
            <a:endParaRPr/>
          </a:p>
        </p:txBody>
      </p:sp>
      <p:pic>
        <p:nvPicPr>
          <p:cNvPr id="37980174" name="Picture 3" descr="img_filas25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0" y="1143000"/>
            <a:ext cx="5669280" cy="21417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200800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/>
              <a:t>Triggers previos (se mantienen)</a:t>
            </a:r>
            <a:endParaRPr/>
          </a:p>
        </p:txBody>
      </p:sp>
      <p:sp>
        <p:nvSpPr>
          <p:cNvPr id="1929291471" name="TextBox 2"/>
          <p:cNvSpPr txBox="1"/>
          <p:nvPr/>
        </p:nvSpPr>
        <p:spPr bwMode="auto">
          <a:xfrm>
            <a:off x="640080" y="11887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trg_users_auto_create (AFTER INSERT users): crea stats + inventario. Re-validado con BIGINT.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trg_matches_update_stats (AFTER INSERT matches): actualiza stats, xp (+score/10), coins y nivel.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Incidente: Fase 1 se bloqueó por v_ranking_global → se bajaron vistas, se aplicó y se recrearon.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885083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/>
              <a:t>Triggers nuevos (Fase 6)</a:t>
            </a:r>
            <a:endParaRPr/>
          </a:p>
        </p:txBody>
      </p:sp>
      <p:sp>
        <p:nvSpPr>
          <p:cNvPr id="1654787087" name="TextBox 2"/>
          <p:cNvSpPr txBox="1"/>
          <p:nvPr/>
        </p:nvSpPr>
        <p:spPr bwMode="auto">
          <a:xfrm>
            <a:off x="640080" y="11887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trg_user_achievements_reward (AFTER UPDATE user_achievements, false→true): otorga xpReward, recalcula nivel y crea notificación. Probado: xp 0→100.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trg_boss_defeats_reward (AFTER INSERT boss_defeats): otorga xpGained, recalcula nivel y notifica. Probado: +200 XP.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Archivo nuevo: 06_NUEVOS_TRIGGERS.sql (el 06 del plan no existía).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33987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/>
              <a:t>Procedimientos y vistas</a:t>
            </a:r>
            <a:endParaRPr/>
          </a:p>
        </p:txBody>
      </p:sp>
      <p:sp>
        <p:nvSpPr>
          <p:cNvPr id="2090896466" name="TextBox 2"/>
          <p:cNvSpPr txBox="1"/>
          <p:nvPr/>
        </p:nvSpPr>
        <p:spPr bwMode="auto">
          <a:xfrm>
            <a:off x="640080" y="11887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sp_register_match: inserta partida (el trigger actualiza stats).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sp_give_currency: suma monedas/gemas + inserta admin_logs.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Vistas: v_ranking_global, v_historial_partidas, v_inventario_jugador, v_auditoria_admin.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Todo verificado en vivo tras las 5 fases.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405806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/>
              <a:t>Objetos programados finales</a:t>
            </a:r>
            <a:endParaRPr/>
          </a:p>
        </p:txBody>
      </p:sp>
      <p:sp>
        <p:nvSpPr>
          <p:cNvPr id="1648019330" name="TextBox 2"/>
          <p:cNvSpPr txBox="1"/>
          <p:nvPr/>
        </p:nvSpPr>
        <p:spPr bwMode="auto">
          <a:xfrm>
            <a:off x="548640" y="11430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4 triggers + 2 procedures + 4 vistas = 10 objetos.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Tests con ROLLBACK: 0 filas basura.</a:t>
            </a:r>
            <a:endParaRPr/>
          </a:p>
        </p:txBody>
      </p:sp>
      <p:pic>
        <p:nvPicPr>
          <p:cNvPr id="1316191825" name="Picture 3" descr="img_objetos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0" y="1143000"/>
            <a:ext cx="5669280" cy="1927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402375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/>
              <a:t>Bugs corregidos en tus scripts</a:t>
            </a:r>
            <a:endParaRPr/>
          </a:p>
        </p:txBody>
      </p:sp>
      <p:sp>
        <p:nvSpPr>
          <p:cNvPr id="1073718568" name="TextBox 2"/>
          <p:cNvSpPr txBox="1"/>
          <p:nvPr/>
        </p:nvSpPr>
        <p:spPr bwMode="auto">
          <a:xfrm>
            <a:off x="640080" y="11887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03 y 05: RAISE NOTICE fuera de bloque DO → error de sintaxis. Envueltos en DO $$.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04 línea 167: mismo bug no detectado en revisión → corregido.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03 (5) y 04 (22): CREATE INDEX sin IF NOT EXISTS → no re-ejecutables. Agregado.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Fase 4 ahora idempotente: re-ejecutada con solo NOTICEs 'ya existe'.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635171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/>
              <a:t>Prisma y backend</a:t>
            </a:r>
            <a:endParaRPr/>
          </a:p>
        </p:txBody>
      </p:sp>
      <p:sp>
        <p:nvSpPr>
          <p:cNvPr id="333797059" name="TextBox 2"/>
          <p:cNvSpPr txBox="1"/>
          <p:nvPr/>
        </p:nvSpPr>
        <p:spPr bwMode="auto">
          <a:xfrm>
            <a:off x="640080" y="11887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npx prisma db pull → 25 modelos introspectados (backup previo de schema.prisma).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npx prisma generate → cliente v5.22.0 OK.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node test-connection.js → conexión exitosa PostgreSQL 18.6.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Pendiente: backend usa totalScore Int → ahora es BigInt (ajustar TS si hay aritmética).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49843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/>
              <a:t>Cómo verlo en pgAdmin</a:t>
            </a:r>
            <a:endParaRPr/>
          </a:p>
        </p:txBody>
      </p:sp>
      <p:sp>
        <p:nvSpPr>
          <p:cNvPr id="431587609" name="TextBox 2"/>
          <p:cNvSpPr txBox="1"/>
          <p:nvPr/>
        </p:nvSpPr>
        <p:spPr bwMode="auto">
          <a:xfrm>
            <a:off x="640080" y="11887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/>
              <a:t>1. Servers → PostgreSQL 18 → memorize → Refresh: 25 tablas, 4 vistas, 4 triggers, 2 procedures.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/>
              <a:t>2. Query Tool: SELECT * FROM v_ranking_global; / SELECT * FROM achievements;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/>
              <a:t>3. Respaldos: Backups → Restore para volver al estado anterior si se necesita.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/>
              <a:t>4. Scripts: 01..06 listos para re-ejecutar (idempotentes).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614843" name="TextBox 1"/>
          <p:cNvSpPr txBox="1"/>
          <p:nvPr/>
        </p:nvSpPr>
        <p:spPr bwMode="auto"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/>
              <a:t>Conclusiones</a:t>
            </a:r>
            <a:endParaRPr/>
          </a:p>
        </p:txBody>
      </p:sp>
      <p:sp>
        <p:nvSpPr>
          <p:cNvPr id="1443526453" name="TextBox 2"/>
          <p:cNvSpPr txBox="1"/>
          <p:nvPr/>
        </p:nvSpPr>
        <p:spPr bwMode="auto">
          <a:xfrm>
            <a:off x="640080" y="11887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BD al 100% del plan disponible: 25 tablas, integridad con 26 FKs y 96 índices.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4 triggers + 2 SP + 4 vistas aplicados, probados y documentados.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Evidencia SENA: este PPTX + backups + scripts 01-06 + capturas de pgAdmin.</a:t>
            </a:r>
            <a:endParaRPr/>
          </a:p>
          <a:p>
            <a:pPr>
              <a:spcAft>
                <a:spcPts val="600"/>
              </a:spcAft>
              <a:defRPr sz="1600">
                <a:solidFill>
                  <a:srgbClr val="C8D3E0"/>
                </a:solidFill>
              </a:defRPr>
            </a:pPr>
            <a:r>
              <a:rPr/>
              <a:t>• Siguiente: actualizar backend (BigInt) y poblar módulos nuevos desde el juego.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912640" name="TextBox 1"/>
          <p:cNvSpPr txBox="1"/>
          <p:nvPr/>
        </p:nvSpPr>
        <p:spPr bwMode="auto">
          <a:xfrm>
            <a:off x="457200" y="137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/>
              <a:t>ANEXO A — DER completo (25 tablas)</a:t>
            </a:r>
            <a:endParaRPr/>
          </a:p>
        </p:txBody>
      </p:sp>
      <p:pic>
        <p:nvPicPr>
          <p:cNvPr id="237215936" name="Picture 2" descr="img_er_ful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75778" y="569856"/>
            <a:ext cx="8229600" cy="8743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8438" name="TextBox 1"/>
          <p:cNvSpPr txBox="1"/>
          <p:nvPr/>
        </p:nvSpPr>
        <p:spPr bwMode="auto">
          <a:xfrm>
            <a:off x="457200" y="137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/>
              <a:t>ANEXO B — 25 tablas con filas reales</a:t>
            </a:r>
            <a:endParaRPr/>
          </a:p>
        </p:txBody>
      </p:sp>
      <p:sp>
        <p:nvSpPr>
          <p:cNvPr id="1529413906" name="TextBox 2"/>
          <p:cNvSpPr txBox="1"/>
          <p:nvPr/>
        </p:nvSpPr>
        <p:spPr bwMode="auto">
          <a:xfrm>
            <a:off x="457200" y="1051560"/>
            <a:ext cx="46908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rPr/>
              <a:t>Salida real de pgAdmin Query Tool.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11 tablas pobladas, 14 vacías (módulos nuevos).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achievements 8, unlocked_items 5, users/settings/currency/admin 3.</a:t>
            </a:r>
            <a:endParaRPr/>
          </a:p>
        </p:txBody>
      </p:sp>
      <p:pic>
        <p:nvPicPr>
          <p:cNvPr id="1263126267" name="Picture 3" descr="img_evid_count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71031" y="1051560"/>
            <a:ext cx="5852160" cy="6464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261260" name="TextBox 1"/>
          <p:cNvSpPr txBox="1"/>
          <p:nvPr/>
        </p:nvSpPr>
        <p:spPr bwMode="auto">
          <a:xfrm>
            <a:off x="457200" y="137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/>
              <a:t>ANEXO C — v_ranking_global en vivo</a:t>
            </a:r>
            <a:endParaRPr/>
          </a:p>
        </p:txBody>
      </p:sp>
      <p:sp>
        <p:nvSpPr>
          <p:cNvPr id="691924808" name="TextBox 2"/>
          <p:cNvSpPr txBox="1"/>
          <p:nvPr/>
        </p:nvSpPr>
        <p:spPr bwMode="auto">
          <a:xfrm>
            <a:off x="457200" y="1051560"/>
            <a:ext cx="341071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rPr/>
              <a:t>SELECT posicion, username, level, xp, partidas, victorias, puntaje_total.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evidencia.backend y rival 1250 pts.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kevin 0 pts (sin partidas).</a:t>
            </a:r>
            <a:endParaRPr/>
          </a:p>
        </p:txBody>
      </p:sp>
      <p:pic>
        <p:nvPicPr>
          <p:cNvPr id="1174191408" name="Picture 3" descr="img_evid_rankin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90872" y="1051560"/>
            <a:ext cx="7132320" cy="1569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007219" name="TextBox 1"/>
          <p:cNvSpPr txBox="1"/>
          <p:nvPr/>
        </p:nvSpPr>
        <p:spPr bwMode="auto">
          <a:xfrm>
            <a:off x="457200" y="137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/>
              <a:t>ANEXO D — 4 triggers en public</a:t>
            </a:r>
            <a:endParaRPr/>
          </a:p>
        </p:txBody>
      </p:sp>
      <p:sp>
        <p:nvSpPr>
          <p:cNvPr id="1882262341" name="TextBox 2"/>
          <p:cNvSpPr txBox="1"/>
          <p:nvPr/>
        </p:nvSpPr>
        <p:spPr bwMode="auto">
          <a:xfrm>
            <a:off x="457200" y="1051560"/>
            <a:ext cx="450799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rPr/>
              <a:t>2 previos (users, matches) + 2 fase 6 (achievements, boss).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Probados con ROLLBACK limpio.</a:t>
            </a:r>
            <a:endParaRPr/>
          </a:p>
        </p:txBody>
      </p:sp>
      <p:pic>
        <p:nvPicPr>
          <p:cNvPr id="1353287629" name="Picture 3" descr="img_evid_tr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88152" y="1051560"/>
            <a:ext cx="6035039" cy="13438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B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104626" name="TextBox 1"/>
          <p:cNvSpPr txBox="1"/>
          <p:nvPr/>
        </p:nvSpPr>
        <p:spPr bwMode="auto">
          <a:xfrm>
            <a:off x="457200" y="137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/>
              <a:t>ANEXO E — 2 procedures + 4 vistas</a:t>
            </a:r>
            <a:endParaRPr/>
          </a:p>
        </p:txBody>
      </p:sp>
      <p:sp>
        <p:nvSpPr>
          <p:cNvPr id="529843424" name="TextBox 2"/>
          <p:cNvSpPr txBox="1"/>
          <p:nvPr/>
        </p:nvSpPr>
        <p:spPr bwMode="auto">
          <a:xfrm>
            <a:off x="457200" y="1051560"/>
            <a:ext cx="450799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</a:defRPr>
            </a:pPr>
            <a:r>
              <a:rPr/>
              <a:t>sp_register_match, sp_give_currency (CALL).</a:t>
            </a:r>
            <a:endParaRPr/>
          </a:p>
          <a:p>
            <a:pPr>
              <a:spcAft>
                <a:spcPts val="500"/>
              </a:spcAft>
              <a:defRPr sz="1400">
                <a:solidFill>
                  <a:srgbClr val="C8D3E0"/>
                </a:solidFill>
              </a:defRPr>
            </a:pPr>
            <a:r>
              <a:rPr/>
              <a:t>• v_ranking_global, v_historial_partidas, v_inventario_jugador, v_auditoria_admin.</a:t>
            </a:r>
            <a:endParaRPr/>
          </a:p>
        </p:txBody>
      </p:sp>
      <p:pic>
        <p:nvPicPr>
          <p:cNvPr id="1628981033" name="Picture 3" descr="img_evid_obj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88152" y="1051560"/>
            <a:ext cx="6035039" cy="1850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2026-10-06T22:06:46Z</dcterms:modified>
  <cp:category/>
</cp:coreProperties>
</file>